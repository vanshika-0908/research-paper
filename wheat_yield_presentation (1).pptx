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garg" userId="3f998a16c288ac47" providerId="LiveId" clId="{895A3A2B-7DCC-41D2-9350-5146A82EF01E}"/>
    <pc:docChg chg="undo custSel addSld delSld modSld">
      <pc:chgData name="bhavya garg" userId="3f998a16c288ac47" providerId="LiveId" clId="{895A3A2B-7DCC-41D2-9350-5146A82EF01E}" dt="2026-05-16T11:00:55.239" v="129" actId="1076"/>
      <pc:docMkLst>
        <pc:docMk/>
      </pc:docMkLst>
      <pc:sldChg chg="addSp delSp modSp mod">
        <pc:chgData name="bhavya garg" userId="3f998a16c288ac47" providerId="LiveId" clId="{895A3A2B-7DCC-41D2-9350-5146A82EF01E}" dt="2026-04-28T07:18:25.345" v="74" actId="14100"/>
        <pc:sldMkLst>
          <pc:docMk/>
          <pc:sldMk cId="0" sldId="256"/>
        </pc:sldMkLst>
        <pc:spChg chg="mod">
          <ac:chgData name="bhavya garg" userId="3f998a16c288ac47" providerId="LiveId" clId="{895A3A2B-7DCC-41D2-9350-5146A82EF01E}" dt="2026-04-28T07:17:58.112" v="7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6:40.455" v="63"/>
          <ac:spMkLst>
            <pc:docMk/>
            <pc:sldMk cId="0" sldId="256"/>
            <ac:spMk id="7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8:25.345" v="74" actId="14100"/>
          <ac:spMkLst>
            <pc:docMk/>
            <pc:sldMk cId="0" sldId="256"/>
            <ac:spMk id="12" creationId="{18DFB137-CB62-6D16-1658-6F03A145D492}"/>
          </ac:spMkLst>
        </pc:spChg>
      </pc:sldChg>
      <pc:sldChg chg="modSp mod">
        <pc:chgData name="bhavya garg" userId="3f998a16c288ac47" providerId="LiveId" clId="{895A3A2B-7DCC-41D2-9350-5146A82EF01E}" dt="2026-05-16T11:00:55.239" v="129" actId="1076"/>
        <pc:sldMkLst>
          <pc:docMk/>
          <pc:sldMk cId="0" sldId="257"/>
        </pc:sldMkLst>
        <pc:spChg chg="mod">
          <ac:chgData name="bhavya garg" userId="3f998a16c288ac47" providerId="LiveId" clId="{895A3A2B-7DCC-41D2-9350-5146A82EF01E}" dt="2026-05-16T11:00:55.239" v="12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bhavya garg" userId="3f998a16c288ac47" providerId="LiveId" clId="{895A3A2B-7DCC-41D2-9350-5146A82EF01E}" dt="2026-05-16T11:00:39.438" v="127" actId="122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bhavya garg" userId="3f998a16c288ac47" providerId="LiveId" clId="{895A3A2B-7DCC-41D2-9350-5146A82EF01E}" dt="2026-04-28T08:27:42.985" v="119" actId="14100"/>
        <pc:sldMkLst>
          <pc:docMk/>
          <pc:sldMk cId="0" sldId="258"/>
        </pc:sldMkLst>
        <pc:spChg chg="mod">
          <ac:chgData name="bhavya garg" userId="3f998a16c288ac47" providerId="LiveId" clId="{895A3A2B-7DCC-41D2-9350-5146A82EF01E}" dt="2026-04-28T08:27:26.403" v="118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bhavya garg" userId="3f998a16c288ac47" providerId="LiveId" clId="{895A3A2B-7DCC-41D2-9350-5146A82EF01E}" dt="2026-04-28T08:27:42.985" v="119" actId="14100"/>
          <ac:spMkLst>
            <pc:docMk/>
            <pc:sldMk cId="0" sldId="258"/>
            <ac:spMk id="5" creationId="{00000000-0000-0000-0000-000000000000}"/>
          </ac:spMkLst>
        </pc:spChg>
      </pc:sldChg>
      <pc:sldChg chg="modSp add del mod">
        <pc:chgData name="bhavya garg" userId="3f998a16c288ac47" providerId="LiveId" clId="{895A3A2B-7DCC-41D2-9350-5146A82EF01E}" dt="2026-04-28T08:28:17.049" v="121" actId="14100"/>
        <pc:sldMkLst>
          <pc:docMk/>
          <pc:sldMk cId="0" sldId="259"/>
        </pc:sldMkLst>
        <pc:spChg chg="mod">
          <ac:chgData name="bhavya garg" userId="3f998a16c288ac47" providerId="LiveId" clId="{895A3A2B-7DCC-41D2-9350-5146A82EF01E}" dt="2026-04-28T07:20:36.673" v="92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havya garg" userId="3f998a16c288ac47" providerId="LiveId" clId="{895A3A2B-7DCC-41D2-9350-5146A82EF01E}" dt="2026-04-28T08:28:17.049" v="121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09:03.231" v="0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09:54.654" v="6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0:13.383" v="9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0:03.988" v="8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09:19.041" v="2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0:20.946" v="10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1:13.943" v="26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1:30.725" v="33" actId="5793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bhavya garg" userId="3f998a16c288ac47" providerId="LiveId" clId="{895A3A2B-7DCC-41D2-9350-5146A82EF01E}" dt="2026-04-28T08:28:24.270" v="122" actId="14100"/>
        <pc:sldMkLst>
          <pc:docMk/>
          <pc:sldMk cId="0" sldId="260"/>
        </pc:sldMkLst>
        <pc:spChg chg="mod">
          <ac:chgData name="bhavya garg" userId="3f998a16c288ac47" providerId="LiveId" clId="{895A3A2B-7DCC-41D2-9350-5146A82EF01E}" dt="2026-04-28T07:21:51.732" v="107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bhavya garg" userId="3f998a16c288ac47" providerId="LiveId" clId="{895A3A2B-7DCC-41D2-9350-5146A82EF01E}" dt="2026-04-28T08:28:24.270" v="122" actId="14100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bhavya garg" userId="3f998a16c288ac47" providerId="LiveId" clId="{895A3A2B-7DCC-41D2-9350-5146A82EF01E}" dt="2026-04-28T08:28:33.753" v="123" actId="14100"/>
        <pc:sldMkLst>
          <pc:docMk/>
          <pc:sldMk cId="0" sldId="261"/>
        </pc:sldMkLst>
        <pc:spChg chg="mod">
          <ac:chgData name="bhavya garg" userId="3f998a16c288ac47" providerId="LiveId" clId="{895A3A2B-7DCC-41D2-9350-5146A82EF01E}" dt="2026-04-28T07:21:14.111" v="100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bhavya garg" userId="3f998a16c288ac47" providerId="LiveId" clId="{895A3A2B-7DCC-41D2-9350-5146A82EF01E}" dt="2026-04-28T08:28:33.753" v="123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2:05.292" v="37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4:17.814" v="53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4:10.150" v="5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4:04.929" v="51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3:31.771" v="46" actId="1076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bhavya garg" userId="3f998a16c288ac47" providerId="LiveId" clId="{895A3A2B-7DCC-41D2-9350-5146A82EF01E}" dt="2026-04-28T08:28:42.318" v="124" actId="14100"/>
        <pc:sldMkLst>
          <pc:docMk/>
          <pc:sldMk cId="0" sldId="262"/>
        </pc:sldMkLst>
        <pc:spChg chg="mod">
          <ac:chgData name="bhavya garg" userId="3f998a16c288ac47" providerId="LiveId" clId="{895A3A2B-7DCC-41D2-9350-5146A82EF01E}" dt="2026-04-28T08:28:42.318" v="124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bhavya garg" userId="3f998a16c288ac47" providerId="LiveId" clId="{895A3A2B-7DCC-41D2-9350-5146A82EF01E}" dt="2026-04-28T07:11:48.186" v="34" actId="255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bhavya garg" userId="3f998a16c288ac47" providerId="LiveId" clId="{895A3A2B-7DCC-41D2-9350-5146A82EF01E}" dt="2026-04-28T07:14:51.860" v="55" actId="1076"/>
        <pc:sldMkLst>
          <pc:docMk/>
          <pc:sldMk cId="0" sldId="263"/>
        </pc:sldMkLst>
        <pc:spChg chg="mod">
          <ac:chgData name="bhavya garg" userId="3f998a16c288ac47" providerId="LiveId" clId="{895A3A2B-7DCC-41D2-9350-5146A82EF01E}" dt="2026-04-28T07:14:51.860" v="55" actId="1076"/>
          <ac:spMkLst>
            <pc:docMk/>
            <pc:sldMk cId="0" sldId="263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333333"/>
                </a:solidFill>
                <a:latin typeface="Arial"/>
              </a:rPr>
              <a:t>Model R²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Value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E3-44CC-B73B-F11F8741EE88}"/>
              </c:ext>
            </c:extLst>
          </c:dPt>
          <c:dPt>
            <c:idx val="1"/>
            <c:invertIfNegative val="0"/>
            <c:bubble3D val="0"/>
            <c:spPr>
              <a:solidFill>
                <a:srgbClr val="FF3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E3-44CC-B73B-F11F8741EE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Model A
(Seasonal)</c:v>
                </c:pt>
                <c:pt idx="1">
                  <c:v>Model B
(Stage-Specific)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0.04</c:v>
                </c:pt>
                <c:pt idx="1">
                  <c:v>0.19900000000000001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E3-44CC-B73B-F11F8741EE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266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B84DF-572F-5CE2-84AD-E3CA674B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2DFDC-1844-729F-8562-F8EEA88ED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03F8E-2892-8083-48A8-CE4E5270C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5AF1A-9381-EFDF-DA37-E56C6D0ED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75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0"/>
            <a:ext cx="6217920" cy="83759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-111760" y="156742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1722226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                   </a:t>
            </a:r>
            <a:r>
              <a:rPr lang="en-IN" sz="2000" b="1" dirty="0"/>
              <a:t>Advanced Glass-Free 3D Camera System for CT Medical Imaging  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676449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Vanshika (vanshika2503.be22@chitkara.edu.in)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5440" y="5057193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Monika, Associate Professor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84048" y="58704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FB137-CB62-6D16-1658-6F03A145D492}"/>
              </a:ext>
            </a:extLst>
          </p:cNvPr>
          <p:cNvSpPr txBox="1"/>
          <p:nvPr/>
        </p:nvSpPr>
        <p:spPr>
          <a:xfrm>
            <a:off x="1176528" y="859536"/>
            <a:ext cx="6644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CO-OP Project at Industry (Module-2) (22CS421)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946"/>
            <a:ext cx="754380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600" b="1" dirty="0"/>
          </a:p>
        </p:txBody>
      </p:sp>
      <p:sp>
        <p:nvSpPr>
          <p:cNvPr id="6" name="Text 3"/>
          <p:cNvSpPr/>
          <p:nvPr/>
        </p:nvSpPr>
        <p:spPr>
          <a:xfrm>
            <a:off x="80467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1188720"/>
            <a:ext cx="882396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Medical imaging techniques like </a:t>
            </a:r>
            <a:r>
              <a:rPr lang="en-US" b="1" dirty="0"/>
              <a:t>CT, MRI, and PET</a:t>
            </a:r>
            <a:r>
              <a:rPr lang="en-US" dirty="0"/>
              <a:t> help doctors visualize internal body structures.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These systems generate </a:t>
            </a:r>
            <a:r>
              <a:rPr lang="en-US" b="1" dirty="0"/>
              <a:t>3D data</a:t>
            </a:r>
            <a:r>
              <a:rPr lang="en-US" dirty="0"/>
              <a:t>, but are usually displayed on </a:t>
            </a:r>
            <a:r>
              <a:rPr lang="en-US" b="1" dirty="0"/>
              <a:t>2D screens</a:t>
            </a:r>
            <a:r>
              <a:rPr lang="en-US" dirty="0"/>
              <a:t>, limiting depth perception.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Lack of depth makes it difficult to clearly understand </a:t>
            </a:r>
            <a:r>
              <a:rPr lang="en-US" b="1" dirty="0"/>
              <a:t>complex anatomical structures</a:t>
            </a:r>
            <a:r>
              <a:rPr lang="en-US" dirty="0"/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This system improves </a:t>
            </a:r>
            <a:r>
              <a:rPr lang="en-US" b="1" dirty="0"/>
              <a:t>clarity, depth perception, and diagnostic efficiency</a:t>
            </a:r>
            <a:r>
              <a:rPr lang="en-US" dirty="0"/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Traditional 3D systems require </a:t>
            </a:r>
            <a:r>
              <a:rPr lang="en-US" b="1" dirty="0"/>
              <a:t>special glasses</a:t>
            </a:r>
            <a:r>
              <a:rPr lang="en-US" dirty="0"/>
              <a:t>, which are inconvenient in medical environments.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To overcome this, a </a:t>
            </a:r>
            <a:r>
              <a:rPr lang="en-US" b="1" dirty="0"/>
              <a:t>glass-free 3D visualization system using eye-tracking technology</a:t>
            </a:r>
            <a:r>
              <a:rPr lang="en-US" dirty="0"/>
              <a:t> is proposed.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Medical imaging techniques like </a:t>
            </a:r>
            <a:r>
              <a:rPr lang="en-US" b="1" dirty="0"/>
              <a:t>CT, MRI, and PET</a:t>
            </a:r>
            <a:r>
              <a:rPr lang="en-US" dirty="0"/>
              <a:t> help doctors visualize internal body structures.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To overcome this, a </a:t>
            </a:r>
            <a:r>
              <a:rPr lang="en-US" b="1" dirty="0"/>
              <a:t>glass-free 3D visualization system using eye-tracking technology</a:t>
            </a:r>
            <a:r>
              <a:rPr lang="en-US" dirty="0"/>
              <a:t> is proposed.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/>
              <a:t>It reduces </a:t>
            </a:r>
            <a:r>
              <a:rPr lang="en-US" b="1" dirty="0"/>
              <a:t>image distortion and overlap</a:t>
            </a:r>
            <a:r>
              <a:rPr lang="en-US" dirty="0"/>
              <a:t>, improving visualization quality.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6111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0"/>
            <a:ext cx="754380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/>
              <a:t>Methodology</a:t>
            </a:r>
            <a:endParaRPr lang="en-US" sz="2600" b="1" dirty="0"/>
          </a:p>
        </p:txBody>
      </p:sp>
      <p:sp>
        <p:nvSpPr>
          <p:cNvPr id="6" name="Text 3"/>
          <p:cNvSpPr/>
          <p:nvPr/>
        </p:nvSpPr>
        <p:spPr>
          <a:xfrm>
            <a:off x="80467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1188720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dirty="0"/>
              <a:t>A </a:t>
            </a:r>
            <a:r>
              <a:rPr lang="en-US" b="1" dirty="0"/>
              <a:t>stereo camera integrated with eye-tracking technology</a:t>
            </a:r>
            <a:r>
              <a:rPr lang="en-US" dirty="0"/>
              <a:t> is used to detect and continuously monitor the user’s eye position in real time, enabling personalized viewing..</a:t>
            </a: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4592" y="2286000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b="1" dirty="0"/>
              <a:t>Face detection and pupil tracking algorithms</a:t>
            </a:r>
            <a:r>
              <a:rPr lang="en-US" dirty="0"/>
              <a:t> identify the exact position of the eyes and dynamically adjust the displayed images based on user movement.</a:t>
            </a:r>
          </a:p>
        </p:txBody>
      </p:sp>
      <p:sp>
        <p:nvSpPr>
          <p:cNvPr id="9" name="Text 6"/>
          <p:cNvSpPr/>
          <p:nvPr/>
        </p:nvSpPr>
        <p:spPr>
          <a:xfrm>
            <a:off x="160020" y="3676802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dirty="0"/>
              <a:t>CT scan data is processed using </a:t>
            </a:r>
            <a:r>
              <a:rPr lang="en-US" b="1" dirty="0"/>
              <a:t>image segmentation and 3D rendering techniques</a:t>
            </a:r>
            <a:r>
              <a:rPr lang="en-US" dirty="0"/>
              <a:t> to convert multiple 2D slices into a structured 3D model.</a:t>
            </a:r>
          </a:p>
        </p:txBody>
      </p:sp>
      <p:sp>
        <p:nvSpPr>
          <p:cNvPr id="10" name="Text 7"/>
          <p:cNvSpPr/>
          <p:nvPr/>
        </p:nvSpPr>
        <p:spPr>
          <a:xfrm>
            <a:off x="164592" y="4865624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b="1" dirty="0"/>
              <a:t>Light-field rendering combined with machine learning</a:t>
            </a:r>
            <a:r>
              <a:rPr lang="en-US" dirty="0"/>
              <a:t> is applied to generate accurate depth perception, reduce image distortion, and ensure smooth real-time visualization without requiring special glasses.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78773-A381-4AD5-D3C6-E24F81AC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45BCE1-0CD3-018F-A4C7-F7C59937206C}"/>
              </a:ext>
            </a:extLst>
          </p:cNvPr>
          <p:cNvSpPr/>
          <p:nvPr/>
        </p:nvSpPr>
        <p:spPr>
          <a:xfrm>
            <a:off x="0" y="-26111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774AB4-3647-F54B-F255-195697DA37A8}"/>
              </a:ext>
            </a:extLst>
          </p:cNvPr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23DA50B-1720-12A0-D2BA-ED98A9C3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E8D51DC-CA3F-6BBF-C73B-42219284C75B}"/>
              </a:ext>
            </a:extLst>
          </p:cNvPr>
          <p:cNvSpPr/>
          <p:nvPr/>
        </p:nvSpPr>
        <p:spPr>
          <a:xfrm>
            <a:off x="0" y="0"/>
            <a:ext cx="754380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60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0CA13A2-2B05-A6EE-5653-4915E1E4C043}"/>
              </a:ext>
            </a:extLst>
          </p:cNvPr>
          <p:cNvSpPr/>
          <p:nvPr/>
        </p:nvSpPr>
        <p:spPr>
          <a:xfrm>
            <a:off x="80467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2A12F3B-C06E-F087-7B5D-58FDE8414CA1}"/>
              </a:ext>
            </a:extLst>
          </p:cNvPr>
          <p:cNvSpPr/>
          <p:nvPr/>
        </p:nvSpPr>
        <p:spPr>
          <a:xfrm>
            <a:off x="164592" y="1188720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dirty="0"/>
              <a:t>Existing studies show that </a:t>
            </a:r>
            <a:r>
              <a:rPr lang="en-US" b="1" dirty="0"/>
              <a:t>traditional 2D medical imaging systems</a:t>
            </a:r>
            <a:r>
              <a:rPr lang="en-US" dirty="0"/>
              <a:t> limit depth perception, making it difficult to analyze complex anatomical structures accurately.</a:t>
            </a: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AF297A6-6C61-2B34-1610-3EBAA28B023B}"/>
              </a:ext>
            </a:extLst>
          </p:cNvPr>
          <p:cNvSpPr/>
          <p:nvPr/>
        </p:nvSpPr>
        <p:spPr>
          <a:xfrm>
            <a:off x="164592" y="2286000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dirty="0"/>
              <a:t>Research on </a:t>
            </a:r>
            <a:r>
              <a:rPr lang="en-US" b="1" dirty="0"/>
              <a:t>glasses-based 3D display systems</a:t>
            </a:r>
            <a:r>
              <a:rPr lang="en-US" dirty="0"/>
              <a:t> improved visualization but introduced issues like discomfort, limited viewing angles, and dependency on external devices.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760F940-086F-05D0-0662-670B7C5B148A}"/>
              </a:ext>
            </a:extLst>
          </p:cNvPr>
          <p:cNvSpPr/>
          <p:nvPr/>
        </p:nvSpPr>
        <p:spPr>
          <a:xfrm>
            <a:off x="160020" y="3676802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dirty="0"/>
              <a:t>Recent advancements in </a:t>
            </a:r>
            <a:r>
              <a:rPr lang="en-US" b="1" dirty="0"/>
              <a:t>eye-tracking technology</a:t>
            </a:r>
            <a:r>
              <a:rPr lang="en-US" dirty="0"/>
              <a:t> enable real-time adjustment of images based on viewer position, reducing distortion and improving clarity.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779032E-D88D-19D0-93E9-D6C08C30B6BA}"/>
              </a:ext>
            </a:extLst>
          </p:cNvPr>
          <p:cNvSpPr/>
          <p:nvPr/>
        </p:nvSpPr>
        <p:spPr>
          <a:xfrm>
            <a:off x="164592" y="4865624"/>
            <a:ext cx="8823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dirty="0"/>
              <a:t>Studies on </a:t>
            </a:r>
            <a:r>
              <a:rPr lang="en-US" b="1" dirty="0"/>
              <a:t>light-field rendering techniques</a:t>
            </a:r>
            <a:r>
              <a:rPr lang="en-US" dirty="0"/>
              <a:t> demonstrate enhanced depth visualization, but require high computational power and efficient algorithms.</a:t>
            </a:r>
          </a:p>
        </p:txBody>
      </p:sp>
    </p:spTree>
    <p:extLst>
      <p:ext uri="{BB962C8B-B14F-4D97-AF65-F5344CB8AC3E}">
        <p14:creationId xmlns:p14="http://schemas.microsoft.com/office/powerpoint/2010/main" val="283113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0"/>
            <a:ext cx="7370064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Results</a:t>
            </a:r>
            <a:endParaRPr lang="en-US" sz="2600" b="1" dirty="0"/>
          </a:p>
        </p:txBody>
      </p:sp>
      <p:sp>
        <p:nvSpPr>
          <p:cNvPr id="6" name="Text 3"/>
          <p:cNvSpPr/>
          <p:nvPr/>
        </p:nvSpPr>
        <p:spPr>
          <a:xfrm>
            <a:off x="80467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7160" y="1280160"/>
            <a:ext cx="2011680" cy="1417320"/>
          </a:xfrm>
          <a:prstGeom prst="rect">
            <a:avLst/>
          </a:prstGeom>
          <a:solidFill>
            <a:srgbClr val="FFF0EE"/>
          </a:solidFill>
          <a:ln w="1905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37160" y="1371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R²=0.199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37160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(Stage-Specific)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0.040 seasonal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67712" y="1280160"/>
            <a:ext cx="2011680" cy="1417320"/>
          </a:xfrm>
          <a:prstGeom prst="rect">
            <a:avLst/>
          </a:prstGeom>
          <a:solidFill>
            <a:srgbClr val="FFF0EE"/>
          </a:solidFill>
          <a:ln w="1905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67712" y="1371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267712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Increase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Explained Variance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67712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 Model 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98264" y="1280160"/>
            <a:ext cx="2011680" cy="1417320"/>
          </a:xfrm>
          <a:prstGeom prst="rect">
            <a:avLst/>
          </a:prstGeom>
          <a:solidFill>
            <a:srgbClr val="FFF0EE"/>
          </a:solidFill>
          <a:ln w="1905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98264" y="1371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vs 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398264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Predictors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398264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&lt; 0.05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28816" y="1280160"/>
            <a:ext cx="2011680" cy="1417320"/>
          </a:xfrm>
          <a:prstGeom prst="rect">
            <a:avLst/>
          </a:prstGeom>
          <a:solidFill>
            <a:srgbClr val="FFF0EE"/>
          </a:solidFill>
          <a:ln w="1905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28816" y="1371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p=0.0007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528816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F-test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28816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F(9,156)=3.43</a:t>
            </a:r>
            <a:endParaRPr lang="en-US" sz="11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182880" y="288036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457200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3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Climate Predictors (Model B)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291840"/>
          <a:ext cx="4389120" cy="243230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Correlation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Maturation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Extreme Heat Days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0.206*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Maturation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Rainfall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−0.193*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Grain Filling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Extreme Heat Days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0.191*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Grain Filling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 Max Temp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0.186*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Flowering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Heat Stress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0.168*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Seasonal (A)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 Temperature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0.184*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Text 21"/>
          <p:cNvSpPr/>
          <p:nvPr/>
        </p:nvSpPr>
        <p:spPr>
          <a:xfrm>
            <a:off x="4572000" y="58978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p &lt; 0.05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2977"/>
            <a:ext cx="754380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2600" b="1" dirty="0"/>
          </a:p>
        </p:txBody>
      </p:sp>
      <p:sp>
        <p:nvSpPr>
          <p:cNvPr id="6" name="Text 3"/>
          <p:cNvSpPr/>
          <p:nvPr/>
        </p:nvSpPr>
        <p:spPr>
          <a:xfrm>
            <a:off x="80467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1188720"/>
            <a:ext cx="8823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b="1" dirty="0"/>
              <a:t>Impact of Eye-Tracking Technology:</a:t>
            </a:r>
            <a:r>
              <a:rPr lang="en-US" dirty="0"/>
              <a:t> Real-time eye movement detection — system adjusts images dynamically, improving viewing accuracy and reducing distortion.</a:t>
            </a:r>
          </a:p>
        </p:txBody>
      </p:sp>
      <p:sp>
        <p:nvSpPr>
          <p:cNvPr id="8" name="Text 5"/>
          <p:cNvSpPr/>
          <p:nvPr/>
        </p:nvSpPr>
        <p:spPr>
          <a:xfrm>
            <a:off x="164592" y="2318004"/>
            <a:ext cx="8823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b="1" dirty="0"/>
              <a:t>Advantage over Traditional 3D Systems:</a:t>
            </a:r>
            <a:r>
              <a:rPr lang="en-US" dirty="0"/>
              <a:t> No requirement of special glasses — increases comfort and usability in medical environments for long durations.</a:t>
            </a:r>
          </a:p>
        </p:txBody>
      </p:sp>
      <p:sp>
        <p:nvSpPr>
          <p:cNvPr id="9" name="Text 6"/>
          <p:cNvSpPr/>
          <p:nvPr/>
        </p:nvSpPr>
        <p:spPr>
          <a:xfrm>
            <a:off x="164592" y="3465576"/>
            <a:ext cx="8823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b="1" dirty="0"/>
              <a:t>Limitation of System Performance:</a:t>
            </a:r>
            <a:r>
              <a:rPr lang="en-US" dirty="0"/>
              <a:t> High computational requirement — real-time rendering and tracking demand powerful hardware, which may limit practical implementation.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" y="4375404"/>
            <a:ext cx="8823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b="1" dirty="0"/>
              <a:t>Role of Light-Field Rendering:</a:t>
            </a:r>
            <a:r>
              <a:rPr lang="en-US" dirty="0"/>
              <a:t> Generates multiple directional views — creates realistic depth perception without overlapping images, improving visualization quality.</a:t>
            </a:r>
          </a:p>
        </p:txBody>
      </p:sp>
      <p:sp>
        <p:nvSpPr>
          <p:cNvPr id="11" name="Text 8"/>
          <p:cNvSpPr/>
          <p:nvPr/>
        </p:nvSpPr>
        <p:spPr>
          <a:xfrm>
            <a:off x="164592" y="5298948"/>
            <a:ext cx="8823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Challenge in Low-Light Conditions:</a:t>
            </a:r>
            <a:r>
              <a:rPr lang="en-US" dirty="0"/>
              <a:t> Reduced eye-tracking accuracy — poor lighting can affect face and pupil detection, leading to less precise 3D rendering.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0"/>
            <a:ext cx="7543800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600" b="1" dirty="0"/>
          </a:p>
        </p:txBody>
      </p:sp>
      <p:sp>
        <p:nvSpPr>
          <p:cNvPr id="6" name="Text 3"/>
          <p:cNvSpPr/>
          <p:nvPr/>
        </p:nvSpPr>
        <p:spPr>
          <a:xfrm>
            <a:off x="80467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4592" y="1188720"/>
            <a:ext cx="882396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/>
              <a:t>Effectiveness of Glass-Free System:</a:t>
            </a:r>
            <a:r>
              <a:rPr lang="en-US" dirty="0"/>
              <a:t> Eliminates need for external devices — improves comfort and usability in medical environments.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/>
              <a:t>Improved Depth Perception:</a:t>
            </a:r>
            <a:r>
              <a:rPr lang="en-US" dirty="0"/>
              <a:t> 3D visualization with eye tracking — allows better understanding of complex anatomical structures.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/>
              <a:t>Real-Time Image Adjustment:</a:t>
            </a:r>
            <a:r>
              <a:rPr lang="en-US" dirty="0"/>
              <a:t> Dynamic eye position tracking — ensures accurate and personalized viewing experience.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/>
              <a:t>Enhanced Diagnostic Efficiency:</a:t>
            </a:r>
            <a:r>
              <a:rPr lang="en-US" dirty="0"/>
              <a:t> Clear and detailed visualization — helps doctors make faster and more accurate decisions.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/>
              <a:t>Integration of Advanced Technologies:</a:t>
            </a:r>
            <a:r>
              <a:rPr lang="en-US" dirty="0"/>
              <a:t> Combination of eye-tracking and rendering techniques — provides a modern solution for medical imaging challenges.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b="1" dirty="0"/>
              <a:t>Future Potential:</a:t>
            </a:r>
            <a:r>
              <a:rPr lang="en-US" dirty="0"/>
              <a:t> Applicable in diagnosis, surgical planning, and medical training — can significantly improve healthcare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02552"/>
            <a:ext cx="9144000" cy="2011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8600"/>
            <a:ext cx="2057400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5971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Punjab, India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742</Words>
  <Application>Microsoft Office PowerPoint</Application>
  <PresentationFormat>On-screen Show (4:3)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Wheat Yield Prediction - Growth Stage Climate Features</dc:title>
  <dc:subject>PptxGenJS Presentation</dc:subject>
  <dc:creator>PptxGenJS</dc:creator>
  <cp:lastModifiedBy>Bansal, Vanshika</cp:lastModifiedBy>
  <cp:revision>3</cp:revision>
  <dcterms:created xsi:type="dcterms:W3CDTF">2026-04-28T06:27:01Z</dcterms:created>
  <dcterms:modified xsi:type="dcterms:W3CDTF">2026-05-16T11:45:01Z</dcterms:modified>
</cp:coreProperties>
</file>